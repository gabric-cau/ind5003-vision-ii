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Penalty video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3152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>
                <a:solidFill>
                  <a:srgbClr val="35CDB2"/>
                </a:solidFill>
                <a:latin typeface="Aptos"/>
              </a:rPr>
              <a:t>Evidence-first Vision II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400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>
                <a:solidFill>
                  <a:srgbClr val="B1C3C9"/>
                </a:solidFill>
                <a:latin typeface="Aptos"/>
              </a:rPr>
              <a:t>Four 2018 World Cup shoot-outs · 39 penalty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33/39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contact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FB155"/>
                </a:solidFill>
                <a:latin typeface="Aptos"/>
              </a:rPr>
              <a:t>35/39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outcome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64008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>
                <a:solidFill>
                  <a:srgbClr val="B1C3C9"/>
                </a:solidFill>
                <a:latin typeface="Aptos"/>
              </a:rPr>
              <a:t>Review draft · replace member names before recording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Assignment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303520" cy="4389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Nine requested event outputs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Four camera-view intervals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Feature value + source evidence + explicit unknown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No numeric 90% threshold in the course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21208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FFB155"/>
                </a:solidFill>
                <a:latin typeface="Aptos"/>
              </a:rPr>
              <a:t>run-up / foot / steps / keeper movement / dive direction / dive height / ball trajectory / final ball position / goal-no-goal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657600"/>
            <a:ext cx="5029200" cy="11887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900" b="0">
                <a:solidFill>
                  <a:srgbClr val="35CDB2"/>
                </a:solidFill>
                <a:latin typeface="Aptos"/>
              </a:rPr>
              <a:t>behind kicker · 45° right · slow-motion kicker close-up · slow-motion behind goalkeeper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Data and event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penalty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FB155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matches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835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keeper boxes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2103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Colombia–England 10 · Croatia–Denmark 10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Spain–Russia 9 · Russia–Croatia 10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Different views stay in one event partition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24-row and core packages update existing events; they do not add independent penalties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From video to evidence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Source
video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47672" y="2761488"/>
            <a:ext cx="384048" cy="365760"/>
          </a:xfrm>
          <a:prstGeom prst="rightArrow">
            <a:avLst/>
          </a:prstGeom>
          <a:solidFill>
            <a:srgbClr val="B1C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Event
slice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9624" y="2761488"/>
            <a:ext cx="384048" cy="365760"/>
          </a:xfrm>
          <a:prstGeom prst="rightArrow">
            <a:avLst/>
          </a:prstGeom>
          <a:solidFill>
            <a:srgbClr val="B1C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Pose +
ball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51576" y="2761488"/>
            <a:ext cx="384048" cy="365760"/>
          </a:xfrm>
          <a:prstGeom prst="rightArrow">
            <a:avLst/>
          </a:prstGeom>
          <a:solidFill>
            <a:srgbClr val="B1C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Temporal
identity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53528" y="2761488"/>
            <a:ext cx="384048" cy="365760"/>
          </a:xfrm>
          <a:prstGeom prst="rightArrow">
            <a:avLst/>
          </a:prstGeom>
          <a:solidFill>
            <a:srgbClr val="B1C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0728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Geometry +
phase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55480" y="2761488"/>
            <a:ext cx="384048" cy="365760"/>
          </a:xfrm>
          <a:prstGeom prst="rightArrow">
            <a:avLst/>
          </a:prstGeom>
          <a:solidFill>
            <a:srgbClr val="B1C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12680" y="2468880"/>
            <a:ext cx="1417320" cy="100584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697480"/>
            <a:ext cx="1271016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700" b="1">
                <a:solidFill>
                  <a:srgbClr val="F0F5F7"/>
                </a:solidFill>
                <a:latin typeface="Aptos"/>
              </a:rPr>
              <a:t>Evidence
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24128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>
                <a:solidFill>
                  <a:srgbClr val="B1C3C9"/>
                </a:solidFill>
                <a:latin typeface="Aptos"/>
              </a:rPr>
              <a:t>Every output keeps a frame/time basis and provenance. Unsupported measurements abstain instead of becoming guesses.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Labels, splits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94360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Event-level partitions prevent views and frames from leaking across splits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Human review covers foot, contact, movement, direction, height and outcome fields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Eight-event frozen held-out check exists for the primary pipeline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Newest ball/keeper detector arms were evaluated on exposed development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43891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900" b="1">
                <a:solidFill>
                  <a:srgbClr val="F17069"/>
                </a:solidFill>
                <a:latin typeface="Aptos"/>
              </a:rPr>
              <a:t>development ≠ independent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880360"/>
            <a:ext cx="438912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0">
                <a:solidFill>
                  <a:srgbClr val="F0F5F7"/>
                </a:solidFill>
                <a:latin typeface="Aptos"/>
              </a:rPr>
              <a:t>Keep the denominator and evidence status visible.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Exploratory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06</a:t>
            </a:r>
          </a:p>
        </p:txBody>
      </p:sp>
      <p:pic>
        <p:nvPicPr>
          <p:cNvPr id="5" name="Picture 4" descr="01_fresh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49224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37160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481328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29/39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19" y="1901952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pre-kick movement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37160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19" y="1481328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FB155"/>
                </a:solidFill>
                <a:latin typeface="Aptos"/>
              </a:rPr>
              <a:t>33/39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1901952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ball trajectory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4320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1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2852928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17069"/>
                </a:solidFill>
                <a:latin typeface="Aptos"/>
              </a:rPr>
              <a:t>0/39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3273552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strict height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274320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170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19" y="2852928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17069"/>
                </a:solidFill>
                <a:latin typeface="Aptos"/>
              </a:rPr>
              <a:t>0/39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19" y="3273552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strict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389120"/>
            <a:ext cx="4297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100" b="0">
                <a:solidFill>
                  <a:srgbClr val="B1C3C9"/>
                </a:solidFill>
                <a:latin typeface="Aptos"/>
              </a:rPr>
              <a:t>Coverage is not the same as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RQ1 · What can broadcast views show?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07</a:t>
            </a:r>
          </a:p>
        </p:txBody>
      </p:sp>
      <p:pic>
        <p:nvPicPr>
          <p:cNvPr id="5" name="Picture 4" descr="02_fresh_steps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40080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417320"/>
            <a:ext cx="4297680" cy="38404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Temporal and pose evidence supports some contact and approach measurements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Sparse ground projections are not a complete top-down trajectory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Camera cuts and occlusion define the observable boundary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RQ2 · Foot, steps and augmentation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76072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Foot evidence: about 13–14/39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Step candidates: 32/39, but validation is development-only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Ball augmentation: 65/91 → 62/91 core; 61/88 → 58/88 Arsenal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Keeper photometric arm regressed on the external development group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Neither new arm replaced the selected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828800"/>
            <a:ext cx="429768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FB155"/>
                </a:solidFill>
                <a:latin typeface="Aptos"/>
              </a:rPr>
              <a:t>Model change must beat the frozen comparison, not just produce more boxes.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RQ3 · Ball path and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09</a:t>
            </a:r>
          </a:p>
        </p:txBody>
      </p:sp>
      <p:pic>
        <p:nvPicPr>
          <p:cNvPr id="5" name="Picture 4" descr="03_fresh_ball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394960" cy="4754880"/>
          </a:xfrm>
          <a:prstGeom prst="rect">
            <a:avLst/>
          </a:prstGeom>
        </p:spPr>
      </p:pic>
      <p:pic>
        <p:nvPicPr>
          <p:cNvPr id="6" name="Picture 5" descr="05_fresh_scoreboard_outco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39496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6035040"/>
            <a:ext cx="1024128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800" b="0">
                <a:solidFill>
                  <a:srgbClr val="B1C3C9"/>
                </a:solidFill>
                <a:latin typeface="Aptos"/>
              </a:rPr>
              <a:t>33/39 ball-track candidates · 35/39 outcome-fusion candidates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Failure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669280" cy="4389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Strict dive height: 0/39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Strict event-final ball position: 0/39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Provisional view: 17/39 image-plane height candidates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Provisional view: 27/39 last-visible ball observations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Provisional values are not accuracy and do not overwrite strict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365760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200" b="1">
                <a:solidFill>
                  <a:srgbClr val="F17069"/>
                </a:solidFill>
                <a:latin typeface="Aptos"/>
              </a:rPr>
              <a:t>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743200"/>
            <a:ext cx="4480560" cy="10972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300" b="0">
                <a:solidFill>
                  <a:srgbClr val="F0F5F7"/>
                </a:solidFill>
                <a:latin typeface="Aptos"/>
              </a:rPr>
              <a:t>is a valid result when the source evidence is insufficient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Generalisation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8/8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held-out primary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FFB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FFB155"/>
                </a:solidFill>
                <a:latin typeface="Aptos"/>
              </a:rPr>
              <a:t>3/8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held-out foot 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325880"/>
            <a:ext cx="2011680" cy="914400"/>
          </a:xfrm>
          <a:prstGeom prst="roundRect">
            <a:avLst/>
          </a:prstGeom>
          <a:solidFill>
            <a:srgbClr val="1B2C39"/>
          </a:solidFill>
          <a:ln>
            <a:solidFill>
              <a:srgbClr val="35C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1435607"/>
            <a:ext cx="1828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500" b="1">
                <a:solidFill>
                  <a:srgbClr val="35CDB2"/>
                </a:solidFill>
                <a:latin typeface="Aptos"/>
              </a:rPr>
              <a:t>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79" y="1856231"/>
            <a:ext cx="1828800" cy="2194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000" b="0">
                <a:solidFill>
                  <a:srgbClr val="B1C3C9"/>
                </a:solidFill>
                <a:latin typeface="Aptos"/>
              </a:rPr>
              <a:t>final focused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10241280" cy="22860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Dell RTX 2060 portable package runs without human answers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Runtime proves execution, not prediction accuracy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Raw videos and weights stay outside the public repository</a:t>
            </a:r>
          </a:p>
          <a:p>
            <a:pPr>
              <a:spcAft>
                <a:spcPts val="800"/>
              </a:spcAft>
              <a:defRPr sz="1700">
                <a:solidFill>
                  <a:srgbClr val="F0F5F7"/>
                </a:solidFill>
                <a:latin typeface="Aptos"/>
              </a:defRPr>
            </a:pPr>
            <a:r>
              <a:t>Reports, manifests and hashes document what can be reproduced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5C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700" b="1">
                <a:solidFill>
                  <a:srgbClr val="F0F5F7"/>
                </a:solidFill>
                <a:latin typeface="Aptos"/>
              </a:rPr>
              <a:t>Conclusion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6446520"/>
            <a:ext cx="22860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r"/>
            <a:r>
              <a:rPr sz="900" b="0">
                <a:solidFill>
                  <a:srgbClr val="B1C3C9"/>
                </a:solidFill>
                <a:latin typeface="Aptos"/>
              </a:rPr>
              <a:t>IND5003 Vision II  |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4297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5F7"/>
                </a:solidFill>
                <a:latin typeface="Aptos"/>
              </a:defRPr>
            </a:pPr>
            <a:r>
              <a:t>The contribution is a reproducible, evidence-first pipeline with abstention</a:t>
            </a:r>
          </a:p>
          <a:p>
            <a:pPr>
              <a:spcAft>
                <a:spcPts val="800"/>
              </a:spcAft>
              <a:defRPr sz="2000">
                <a:solidFill>
                  <a:srgbClr val="F0F5F7"/>
                </a:solidFill>
                <a:latin typeface="Aptos"/>
              </a:defRPr>
            </a:pPr>
            <a:r>
              <a:t>Strongest coverage: contact, ball-track candidates, pre-kick movement and outcome fusion</a:t>
            </a:r>
          </a:p>
          <a:p>
            <a:pPr>
              <a:spcAft>
                <a:spcPts val="800"/>
              </a:spcAft>
              <a:defRPr sz="2000">
                <a:solidFill>
                  <a:srgbClr val="F0F5F7"/>
                </a:solidFill>
                <a:latin typeface="Aptos"/>
              </a:defRPr>
            </a:pPr>
            <a:r>
              <a:t>Main gaps: height, terminal ball position, full top-down path and camera playback</a:t>
            </a:r>
          </a:p>
          <a:p>
            <a:pPr>
              <a:spcAft>
                <a:spcPts val="800"/>
              </a:spcAft>
              <a:defRPr sz="2000">
                <a:solidFill>
                  <a:srgbClr val="F0F5F7"/>
                </a:solidFill>
                <a:latin typeface="Aptos"/>
              </a:defRPr>
            </a:pPr>
            <a:r>
              <a:t>Next data: endpoint boxes/timestamps, complete dive views and camera playback labels</a:t>
            </a:r>
          </a:p>
          <a:p>
            <a:pPr>
              <a:spcAft>
                <a:spcPts val="800"/>
              </a:spcAft>
              <a:defRPr sz="2000">
                <a:solidFill>
                  <a:srgbClr val="F0F5F7"/>
                </a:solidFill>
                <a:latin typeface="Aptos"/>
              </a:defRPr>
            </a:pPr>
            <a:r>
              <a:t>Finish the narrated video, report review and SharePoint package before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5577840"/>
            <a:ext cx="338328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1">
                <a:solidFill>
                  <a:srgbClr val="35CDB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